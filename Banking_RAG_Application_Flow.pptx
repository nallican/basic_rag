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7"/>
          </a:solidFill>
          <a:ln>
            <a:solidFill>
              <a:srgbClr val="0A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Banking RAG
Policy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DE2F3"/>
                </a:solidFill>
                <a:latin typeface="Aptos"/>
              </a:rPr>
              <a:t>Retrieval-Augmented Generation for grounded banking-policy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3749039" cy="640080"/>
          </a:xfrm>
          <a:prstGeom prst="round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10565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PDF policies  •  FAISS retrieval  •  Safe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C2D9"/>
                </a:solidFill>
                <a:latin typeface="Aptos"/>
              </a:rPr>
              <a:t>Application flow, methodology, chunking, retrieval, and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Why this assistant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37"/>
                </a:solidFill>
                <a:latin typeface="Aptos"/>
              </a:rPr>
              <a:t>Branch staff need fast answers from policy PDFs—without guessing or exposing sensitive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246120" cy="24231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237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61AB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27248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Answers must be grounded in approved Accounts and Personal Loan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40280"/>
            <a:ext cx="3246120" cy="24231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237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61AB"/>
                </a:solidFill>
                <a:latin typeface="Aptos"/>
              </a:rP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127248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Users need source, page, and section references for every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40280"/>
            <a:ext cx="3246120" cy="24231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52374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61AB"/>
                </a:solidFill>
                <a:latin typeface="Aptos"/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127248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The system must refuse OTP/PIN/CVV requests and never guarantee loan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2.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An evidence-first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1572768" cy="12984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Policy PDFs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Accounts + loans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31720"/>
            <a:ext cx="1572768" cy="1298448"/>
          </a:xfrm>
          <a:prstGeom prst="roundRect">
            <a:avLst/>
          </a:prstGeom>
          <a:solidFill>
            <a:srgbClr val="DDEFF7"/>
          </a:solidFill>
          <a:ln>
            <a:solidFill>
              <a:srgbClr val="DD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Section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ASxx / PLxx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269748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31720"/>
            <a:ext cx="1572768" cy="12984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Chunker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700 chars / 100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69748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331720"/>
            <a:ext cx="1572768" cy="1298448"/>
          </a:xfrm>
          <a:prstGeom prst="roundRect">
            <a:avLst/>
          </a:prstGeom>
          <a:solidFill>
            <a:srgbClr val="DDEFF7"/>
          </a:solidFill>
          <a:ln>
            <a:solidFill>
              <a:srgbClr val="DD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MiniLM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69748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2331720"/>
            <a:ext cx="1572768" cy="12984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FAISS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Top-3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69748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331720"/>
            <a:ext cx="1572768" cy="1298448"/>
          </a:xfrm>
          <a:prstGeom prst="roundRect">
            <a:avLst/>
          </a:prstGeom>
          <a:solidFill>
            <a:srgbClr val="DDEFF7"/>
          </a:solidFill>
          <a:ln>
            <a:solidFill>
              <a:srgbClr val="DD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5786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F37"/>
                </a:solidFill>
                <a:latin typeface="Aptos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2962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F80"/>
                </a:solidFill>
                <a:latin typeface="Aptos"/>
              </a:rPr>
              <a:t>LLM or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F37"/>
                </a:solidFill>
                <a:latin typeface="Aptos"/>
              </a:rPr>
              <a:t>The assistant answers from retrieved passages, not from general banking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3. Document ingestion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Preparing trustworthy retrieval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812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User uploads exactly two PDFs: Accounts_and_Service_Policy.pdf and Personal_Loan_Policy.pdf.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PyMuPDF extracts the text page by page.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A regular expression identifies structured headings such as AS01 and PL02.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Sections spanning multiple pages are merged while preserving source, page, title, and section ID.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The app checks coverage against 16 expected sections before building the knowledge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246120" cy="35661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105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61AB"/>
                </a:solidFill>
                <a:latin typeface="Aptos"/>
              </a:rPr>
              <a:t>Metadata retained per chunk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33172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Source filename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71576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Page number(s)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3099815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Section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348386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Section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867911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Chunk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25196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✓  Chunk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4. Chunking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What type of chunking is 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A1F37"/>
                </a:solidFill>
                <a:latin typeface="Aptos"/>
              </a:rPr>
              <a:t>Recursive character text splitting with overlap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337560" cy="21945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231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61AB"/>
                </a:solidFill>
                <a:latin typeface="Aptos"/>
              </a:rPr>
              <a:t>Chunk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0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F37"/>
                </a:solidFill>
                <a:latin typeface="Aptos"/>
              </a:rPr>
              <a:t>700 characters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16F80"/>
                </a:solidFill>
                <a:latin typeface="Aptos"/>
              </a:rPr>
              <a:t>Target maximum length per chunk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2148840"/>
            <a:ext cx="3337560" cy="21945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4231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61AB"/>
                </a:solidFill>
                <a:latin typeface="Aptos"/>
              </a:rPr>
              <a:t>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80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F37"/>
                </a:solidFill>
                <a:latin typeface="Aptos"/>
              </a:rPr>
              <a:t>100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16F80"/>
                </a:solidFill>
                <a:latin typeface="Aptos"/>
              </a:rPr>
              <a:t>Carries context into the next chunk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2148840"/>
            <a:ext cx="3337560" cy="219456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4231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61AB"/>
                </a:solidFill>
                <a:latin typeface="Aptos"/>
              </a:rPr>
              <a:t>Separators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880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F37"/>
                </a:solidFill>
                <a:latin typeface="Aptos"/>
              </a:rPr>
              <a:t>Paragraph → line → sentence → word → character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429000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16F80"/>
                </a:solidFill>
                <a:latin typeface="Aptos"/>
              </a:rPr>
              <a:t>Preserves meaningful boundaries where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6"/>
                </a:solidFill>
                <a:latin typeface="Aptos"/>
              </a:rPr>
              <a:t>The splitter runs inside each labelled policy section, so chunks retain the section metadata required for citations.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5. Embeddings and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How relevant policy evidence is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6949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Model: sentence-transformers/all-MiniLM-L6-v2.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Each policy chunk and the user question become normalized dense vectors.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FAISS IndexFlatIP performs exact inner-product search; with normalized vectors this is cosine similarity.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The default top-k is 3: the three most similar chunks are sent to answer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232B36"/>
                </a:solidFill>
                <a:latin typeface="Aptos"/>
              </a:defRPr>
            </a:pPr>
            <a:r>
              <a:t>The UI displays rank, similarity score, source, page, section, and the retrieved passage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00200"/>
            <a:ext cx="3108960" cy="3337560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836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29191"/>
                </a:solidFill>
                <a:latin typeface="Aptos"/>
              </a:rPr>
              <a:t>Similarity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432304"/>
            <a:ext cx="2148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F37"/>
                </a:solidFill>
                <a:latin typeface="Aptos"/>
              </a:rPr>
              <a:t>Question
↓
Embedding
↓
FAISS top-3
↓
Evidence passages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6. Answer generation and safety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Evidence is passed to the generator with explicit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273552" cy="297180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273552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29191"/>
                </a:solidFill>
                <a:latin typeface="Aptos"/>
              </a:rPr>
              <a:t>Safety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7066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Refuses OTP, password, PIN, CVV, and loan-approval guarantee requests before LLM invocation.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737360"/>
            <a:ext cx="3273552" cy="297180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737360"/>
            <a:ext cx="3273552" cy="164592"/>
          </a:xfrm>
          <a:prstGeom prst="rect">
            <a:avLst/>
          </a:prstGeom>
          <a:solidFill>
            <a:srgbClr val="1661AB"/>
          </a:solidFill>
          <a:ln>
            <a:solidFill>
              <a:srgbClr val="16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214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661AB"/>
                </a:solidFill>
                <a:latin typeface="Aptos"/>
              </a:rPr>
              <a:t>OpenAI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788920"/>
            <a:ext cx="27066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When a valid key is available, retrieved context + system prompt are sent to gpt-4o-mini at temperature 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3" y="1737360"/>
            <a:ext cx="3273552" cy="297180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3" y="1737360"/>
            <a:ext cx="3273552" cy="164592"/>
          </a:xfrm>
          <a:prstGeom prst="rect">
            <a:avLst/>
          </a:prstGeom>
          <a:solidFill>
            <a:srgbClr val="F5B700"/>
          </a:solidFill>
          <a:ln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21214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B700"/>
                </a:solidFill>
                <a:latin typeface="Aptos"/>
              </a:rPr>
              <a:t>Fallback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788920"/>
            <a:ext cx="27066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B36"/>
                </a:solidFill>
                <a:latin typeface="Aptos"/>
              </a:rPr>
              <a:t>If no key or the API is unavailable, deterministic policy-grounded responses are returned.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7. User journey / 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What happens from upload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1. Upload two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865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2. Load into data folder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865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3. Build knowledge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00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1865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4. Ask a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151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5. Retrieve top-3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886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4151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6. Safety +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2331720" cy="841248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15137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F37"/>
                </a:solidFill>
                <a:latin typeface="Aptos"/>
              </a:rPr>
              <a:t>7. Show answer +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185623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185623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185623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971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1422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41422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9191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8. Is multi-query retrieval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Short answer: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154680" cy="3429000"/>
          </a:xfrm>
          <a:prstGeom prst="roundRect">
            <a:avLst/>
          </a:prstGeom>
          <a:solidFill>
            <a:srgbClr val="FFEEEE"/>
          </a:solidFill>
          <a:ln>
            <a:solidFill>
              <a:srgbClr val="FF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D2929"/>
                </a:solidFill>
                <a:latin typeface="Aptos"/>
              </a:rPr>
              <a:t>Current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2240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A1F37"/>
                </a:solidFill>
                <a:latin typeface="Aptos"/>
              </a:rPr>
              <a:t>One original question
↓
One embedding
↓
One FAISS search
↓
Top-3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6903720" cy="3429000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61AB"/>
                </a:solidFill>
                <a:latin typeface="Aptos"/>
              </a:rPr>
              <a:t>What is not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6172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No query rewriting or query expansion.</a:t>
            </a:r>
          </a:p>
          <a:p>
            <a:pPr>
              <a:spcAft>
                <a:spcPts val="12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No decomposition of one question into several sub-questions.</a:t>
            </a:r>
          </a:p>
          <a:p>
            <a:pPr>
              <a:spcAft>
                <a:spcPts val="12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No parallel retrieval over paraphrased queries.</a:t>
            </a:r>
          </a:p>
          <a:p>
            <a:pPr>
              <a:spcAft>
                <a:spcPts val="12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No reciprocal-rank fusion or reranking across multiple query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303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B36"/>
                </a:solidFill>
                <a:latin typeface="Aptos"/>
              </a:rPr>
              <a:t>Trade-off: the current design is simpler and faster, but multi-query retrieval could improve recall for complex or ambiguous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9. Evaluation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Offline scorecards test retrieval, answers, citations, safety, and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373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Retrieval evidence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7373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Faithfulness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373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Answer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50876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17373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Response relevancy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1752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Citation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78892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301752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Safe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88920"/>
            <a:ext cx="2331720" cy="713232"/>
          </a:xfrm>
          <a:prstGeom prst="roundRect">
            <a:avLst/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01752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F37"/>
                </a:solidFill>
                <a:latin typeface="Aptos"/>
              </a:rPr>
              <a:t>Average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F37"/>
                </a:solidFill>
                <a:latin typeface="Aptos"/>
              </a:rPr>
              <a:t>Reported final-test results: 1.0 retrieval recall, faithfulness, correctness, relevancy, citation support, and safe handling; 0.008 s average latency.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16F80"/>
                </a:solidFill>
                <a:latin typeface="Aptos"/>
              </a:rPr>
              <a:t>Note: the scoring functions are deterministic heuristics, so results should be complemented by human review for production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191"/>
          </a:solidFill>
          <a:ln>
            <a:solidFill>
              <a:srgbClr val="12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F37"/>
                </a:solidFill>
                <a:latin typeface="Aptos"/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F80"/>
                </a:solidFill>
                <a:latin typeface="Aptos"/>
              </a:rPr>
              <a:t>A transparent foundation for policy-aware banking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F80"/>
                </a:solidFill>
                <a:latin typeface="Aptos"/>
              </a:rPr>
              <a:t>Banking RAG Policy Assistant   |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6"/>
                </a:solidFill>
                <a:latin typeface="Aptos"/>
              </a:defRPr>
            </a:pPr>
            <a:r>
              <a:t>The assistant converts two banking-policy PDFs into a searchable, cited knowledge base.</a:t>
            </a:r>
          </a:p>
          <a:p>
            <a:pPr>
              <a:spcAft>
                <a:spcPts val="1200"/>
              </a:spcAft>
              <a:defRPr sz="1900">
                <a:solidFill>
                  <a:srgbClr val="232B36"/>
                </a:solidFill>
                <a:latin typeface="Aptos"/>
              </a:defRPr>
            </a:pPr>
            <a:r>
              <a:t>Recursive character chunking plus overlap preserves local context while keeping evidence retrievable.</a:t>
            </a:r>
          </a:p>
          <a:p>
            <a:pPr>
              <a:spcAft>
                <a:spcPts val="1200"/>
              </a:spcAft>
              <a:defRPr sz="1900">
                <a:solidFill>
                  <a:srgbClr val="232B36"/>
                </a:solidFill>
                <a:latin typeface="Aptos"/>
              </a:defRPr>
            </a:pPr>
            <a:r>
              <a:t>Dense embeddings and FAISS return the most relevant policy passages for each question.</a:t>
            </a:r>
          </a:p>
          <a:p>
            <a:pPr>
              <a:spcAft>
                <a:spcPts val="1200"/>
              </a:spcAft>
              <a:defRPr sz="1900">
                <a:solidFill>
                  <a:srgbClr val="232B36"/>
                </a:solidFill>
                <a:latin typeface="Aptos"/>
              </a:defRPr>
            </a:pPr>
            <a:r>
              <a:t>Safety gates and fallback behavior allow the application to remain useful even without a live API key.</a:t>
            </a:r>
          </a:p>
          <a:p>
            <a:pPr>
              <a:spcAft>
                <a:spcPts val="1200"/>
              </a:spcAft>
              <a:defRPr sz="1900">
                <a:solidFill>
                  <a:srgbClr val="232B36"/>
                </a:solidFill>
                <a:latin typeface="Aptos"/>
              </a:defRPr>
            </a:pPr>
            <a:r>
              <a:t>The current system is single-query RAG; multi-query expansion and reranking are logical future enhancements.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554480"/>
            <a:ext cx="2651760" cy="3520440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8" y="192024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29191"/>
                </a:solidFill>
                <a:latin typeface="Aptos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187451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A1F37"/>
                </a:solidFill>
                <a:latin typeface="Aptos"/>
              </a:rPr>
              <a:t>Grounded
answers
with
traceable
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